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dashboard.html" TargetMode="External" /><Relationship Id="rId3" Type="http://schemas.openxmlformats.org/officeDocument/2006/relationships/hyperlink" Target="https://github.com/GMU-CherryBlossomCompetition/peak-bloom-predictio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Cherry Blossom Peak Bloom Prediction 2026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University of Maryland</a:t>
            </a:r>
            <a:br/>
            <a:br/>
            <a:r>
              <a:rPr/>
              <a:t>Team 5103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Kyoto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812–2025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Washington DC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1921–2025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Liestal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1894–2025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Vancouver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2022–2025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York 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2019–2025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Auxiliary:</a:t>
            </a:r>
            <a:r>
              <a:rPr/>
              <a:t> Japan (6,573), MeteoSwiss (6,642), South Korea (994)</a:t>
            </a:r>
          </a:p>
          <a:p>
            <a:pPr lvl="0" indent="0" marL="0">
              <a:buNone/>
            </a:pPr>
            <a:r>
              <a:rPr b="1"/>
              <a:t>NYC enrichment:</a:t>
            </a:r>
            <a:r>
              <a:rPr/>
              <a:t> 5 citizen-science records (USA-NPN)</a:t>
            </a:r>
          </a:p>
          <a:p>
            <a:pPr lvl="0" indent="0" marL="0">
              <a:buNone/>
            </a:pPr>
            <a:r>
              <a:rPr b="1"/>
              <a:t>Total:</a:t>
            </a:r>
            <a:r>
              <a:rPr/>
              <a:t> 14,598 bloom records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Winter mean temperature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bloom driver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Spring mean temperature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Accumulation trigger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Latitude, longitude, altitude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Geographic baseline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(trend)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Long-term shift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Winter/spring temperature is the </a:t>
            </a:r>
            <a:r>
              <a:rPr b="1"/>
              <a:t>dominant predictor</a:t>
            </a:r>
            <a:r>
              <a:rPr/>
              <a:t> — warmer winters and earlier spring warmth directly accelerate bloom timing.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A — Local Trend</a:t>
            </a:r>
            <a:r>
              <a:rPr/>
              <a:t> (per site)</a:t>
            </a:r>
          </a:p>
          <a:p>
            <a:pPr lvl="0"/>
            <a:r>
              <a:rPr/>
              <a:t>Weighted quadratic regression on year</a:t>
            </a:r>
          </a:p>
          <a:p>
            <a:pPr lvl="0"/>
            <a:r>
              <a:rPr/>
              <a:t>Recent years weighted more heavily (exponential decay, ~6 yr half-life)</a:t>
            </a:r>
          </a:p>
          <a:p>
            <a:pPr lvl="0"/>
            <a:r>
              <a:rPr/>
              <a:t>Captures site-specific long-term bloom shift</a:t>
            </a:r>
          </a:p>
          <a:p>
            <a:pPr lvl="0" indent="0" marL="0">
              <a:buNone/>
            </a:pPr>
            <a:r>
              <a:rPr b="1"/>
              <a:t>Model B — Pooled GAM</a:t>
            </a:r>
            <a:r>
              <a:rPr/>
              <a:t> (R)</a:t>
            </a:r>
          </a:p>
          <a:p>
            <a:pPr lvl="0"/>
            <a:r>
              <a:rPr/>
              <a:t>Smooth functions of year, location, altitude over 14,598 records</a:t>
            </a:r>
          </a:p>
          <a:p>
            <a:pPr lvl="0"/>
            <a:r>
              <a:rPr/>
              <a:t>Winter/spring temperature as key covariate</a:t>
            </a:r>
          </a:p>
          <a:p>
            <a:pPr lvl="0" indent="0" marL="0">
              <a:buNone/>
            </a:pPr>
            <a:r>
              <a:rPr b="1"/>
              <a:t>Model B′ — Gradient Boosted Trees</a:t>
            </a:r>
            <a:r>
              <a:rPr/>
              <a:t> (Python)</a:t>
            </a:r>
          </a:p>
          <a:p>
            <a:pPr lvl="0"/>
            <a:r>
              <a:rPr/>
              <a:t>800 trees with robust loss</a:t>
            </a:r>
          </a:p>
          <a:p>
            <a:pPr lvl="0"/>
            <a:r>
              <a:rPr/>
              <a:t>Same temperature-based features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Ensemble blending</a:t>
            </a:r>
          </a:p>
          <a:p>
            <a:pPr lvl="0"/>
            <a:r>
              <a:rPr/>
              <a:t>Backtest over 126 rolling windows (1900–2025)</a:t>
            </a:r>
          </a:p>
          <a:p>
            <a:pPr lvl="0"/>
            <a:r>
              <a:rPr/>
              <a:t>Per-site optimal weight between local and global models</a:t>
            </a:r>
          </a:p>
          <a:p>
            <a:pPr lvl="0"/>
            <a:r>
              <a:rPr/>
              <a:t>Deep-history sites lean on Model A; sparse sites lean on Model B</a:t>
            </a:r>
          </a:p>
          <a:p>
            <a:pPr lvl="0" indent="0" marL="0">
              <a:buNone/>
            </a:pPr>
            <a:r>
              <a:rPr b="1"/>
              <a:t>Prediction intervals</a:t>
            </a:r>
          </a:p>
          <a:p>
            <a:pPr lvl="0"/>
            <a:r>
              <a:rPr/>
              <a:t>Conformal method: 90th percentile of backtest residuals per site</a:t>
            </a:r>
          </a:p>
          <a:p>
            <a:pPr lvl="0"/>
            <a:r>
              <a:rPr/>
              <a:t>≥90% coverage with tight widths for SSW tiebreaker</a:t>
            </a:r>
          </a:p>
          <a:p>
            <a:pPr lvl="0" indent="0" marL="0">
              <a:buNone/>
            </a:pPr>
            <a:r>
              <a:rPr b="1"/>
              <a:t>Cross-language check</a:t>
            </a:r>
          </a:p>
          <a:p>
            <a:pPr lvl="0"/>
            <a:r>
              <a:rPr/>
              <a:t>R and Python pipelines run independently</a:t>
            </a:r>
          </a:p>
          <a:p>
            <a:pPr lvl="0"/>
            <a:r>
              <a:rPr/>
              <a:t>Averaged when predictions agree within 4 days</a:t>
            </a:r>
          </a:p>
          <a:p>
            <a:pPr lvl="0"/>
            <a:r>
              <a:rPr/>
              <a:t>Current agreement: </a:t>
            </a:r>
            <a:r>
              <a:rPr b="1"/>
              <a:t>2.8 days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Backtest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Model accuracy (MAE in days)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Improvement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trend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ensemble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~5.61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Enhanced (temperature features)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19% better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Final ensemble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4.23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25% better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improvement:</a:t>
            </a:r>
          </a:p>
          <a:p>
            <a:pPr lvl="0"/>
            <a:r>
              <a:rPr/>
              <a:t>Winter/spring temperature captures the main phenological driver</a:t>
            </a:r>
          </a:p>
          <a:p>
            <a:pPr lvl="0"/>
            <a:r>
              <a:rPr/>
              <a:t>Per-site blending weights adapt to each location’s data depth</a:t>
            </a:r>
          </a:p>
          <a:p>
            <a:pPr lvl="0"/>
            <a:r>
              <a:rPr/>
              <a:t>Cross-language averaging reduces individual model bias</a:t>
            </a:r>
          </a:p>
        </p:txBody>
      </p:sp>
      <p:pic>
        <p:nvPicPr>
          <p:cNvPr descr="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625600"/>
            <a:ext cx="36957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Inferential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bloom timing changes</a:t>
            </a:r>
          </a:p>
          <a:p>
            <a:pPr lvl="0"/>
            <a:r>
              <a:rPr b="1"/>
              <a:t>Winter warming</a:t>
            </a:r>
            <a:r>
              <a:rPr/>
              <a:t> — warmer winters mean trees need less cold exposure, starting spring development earlier</a:t>
            </a:r>
          </a:p>
          <a:p>
            <a:pPr lvl="0"/>
            <a:r>
              <a:rPr b="1"/>
              <a:t>Spring temperatures</a:t>
            </a:r>
            <a:r>
              <a:rPr/>
              <a:t> — earlier warm spells accelerate bloom; late cold snaps can delay it</a:t>
            </a:r>
          </a:p>
          <a:p>
            <a:pPr lvl="0"/>
            <a:r>
              <a:rPr b="1"/>
              <a:t>Latitude</a:t>
            </a:r>
            <a:r>
              <a:rPr/>
              <a:t> — ~1 day later per degree north above 35°N</a:t>
            </a:r>
          </a:p>
          <a:p>
            <a:pPr lvl="0"/>
            <a:r>
              <a:rPr b="1"/>
              <a:t>Altitude</a:t>
            </a:r>
            <a:r>
              <a:rPr/>
              <a:t> — ~2 days later per 100 m elevation (Liestal at 350 m blooms latest)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Site-specific notes</a:t>
            </a:r>
          </a:p>
          <a:p>
            <a:pPr lvl="0"/>
            <a:r>
              <a:rPr b="1"/>
              <a:t>Kyoto:</a:t>
            </a:r>
            <a:r>
              <a:rPr/>
              <a:t> Urban heat island + 0.2 d/century earlier trend. 1200-yr record anchors predictions.</a:t>
            </a:r>
          </a:p>
          <a:p>
            <a:pPr lvl="0"/>
            <a:r>
              <a:rPr b="1"/>
              <a:t>Washington DC:</a:t>
            </a:r>
            <a:r>
              <a:rPr/>
              <a:t> Tidal Basin warmth → earliest bloomer. 2.2 d/decade recent acceleration.</a:t>
            </a:r>
          </a:p>
          <a:p>
            <a:pPr lvl="0"/>
            <a:r>
              <a:rPr b="1"/>
              <a:t>Liestal:</a:t>
            </a:r>
            <a:r>
              <a:rPr/>
              <a:t> Alpine warming 0.3 °C/decade. Foehn winds add variability.</a:t>
            </a:r>
          </a:p>
          <a:p>
            <a:pPr lvl="0"/>
            <a:r>
              <a:rPr b="1"/>
              <a:t>Vancouver:</a:t>
            </a:r>
            <a:r>
              <a:rPr/>
              <a:t> Maritime climate buffers extremes. Only 4 years of data → wider intervals.</a:t>
            </a:r>
          </a:p>
          <a:p>
            <a:pPr lvl="0"/>
            <a:r>
              <a:rPr b="1"/>
              <a:t>NYC:</a:t>
            </a:r>
            <a:r>
              <a:rPr/>
              <a:t> Short record (2 yrs). NPN citizen-science data reduces error ~1.5 days.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Predictions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/>
                <a:gridCol w="800100"/>
                <a:gridCol w="800100"/>
                <a:gridCol w="800100"/>
                <a:gridCol w="8001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Washington DC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 25,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Mar 17 – Apr 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Liestal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 27,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Mar 19 – Apr 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Kyoto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 29,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Mar 20 – Apr 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Vancouver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 31,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Mar 21 – Apr 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New York 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 02,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Mar 25 – Apr 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Interpretation:</a:t>
            </a:r>
          </a:p>
          <a:p>
            <a:pPr lvl="0"/>
            <a:r>
              <a:rPr/>
              <a:t>DC blooms earliest — Tidal Basin warmth</a:t>
            </a:r>
          </a:p>
          <a:p>
            <a:pPr lvl="0"/>
            <a:r>
              <a:rPr/>
              <a:t>Kyoto &amp; Liestal cluster in late March</a:t>
            </a:r>
          </a:p>
          <a:p>
            <a:pPr lvl="0"/>
            <a:r>
              <a:rPr/>
              <a:t>NYC latest — continental cold delays spring</a:t>
            </a:r>
          </a:p>
          <a:p>
            <a:pPr lvl="0"/>
            <a:r>
              <a:rPr/>
              <a:t>All within 8-day spread across sites</a:t>
            </a:r>
          </a:p>
          <a:p>
            <a:pPr lvl="0"/>
            <a:r>
              <a:rPr/>
              <a:t>90% intervals hold in backtest validation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Enhanced vs Baseline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Enhanced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Shift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Kyoto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88 (18d)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94 (12d)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+6 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Liestal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86 (17d)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95 (10d)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+9 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New York 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92 (15d)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98 (11d)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+6 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Vancouver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90 (20d)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95 (25d)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+5 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Washington DC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84 (15d)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DOY 89 (13d)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+5 d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descr="slides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20800"/>
            <a:ext cx="4038600" cy="313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Team 5103 — University of Maryland</a:t>
            </a:r>
          </a:p>
          <a:p>
            <a:pPr lvl="0" indent="0" marL="0">
              <a:buNone/>
            </a:pPr>
            <a:r>
              <a:rPr/>
              <a:t>Cherry Blossom Peak Bloom Prediction 2026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>
                <a:hlinkClick r:id="rId2"/>
              </a:rPr>
              <a:t>Interactive dashboard</a:t>
            </a:r>
            <a:r>
              <a:rPr/>
              <a:t> · </a:t>
            </a:r>
            <a:r>
              <a:rPr>
                <a:hlinkClick r:id="rId3"/>
              </a:rPr>
              <a:t>GitHub repo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Cherry Blossom Peak Bloom Prediction 2026</dc:title>
  <dc:creator>Team 5103</dc:creator>
  <cp:keywords/>
  <dcterms:created xsi:type="dcterms:W3CDTF">2026-02-21T19:09:11Z</dcterms:created>
  <dcterms:modified xsi:type="dcterms:W3CDTF">2026-02-21T19:09:11Z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University of Maryland</vt:lpwstr>
  </property>
  <property fmtid="{D5CDD505-2E9C-101B-9397-08002B2CF9AE}" pid="11" name="toc-title">
    <vt:lpwstr>Table of contents</vt:lpwstr>
  </property>
</Properties>
</file>